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83" r:id="rId3"/>
    <p:sldId id="285" r:id="rId4"/>
    <p:sldId id="286" r:id="rId5"/>
    <p:sldId id="288" r:id="rId6"/>
    <p:sldId id="289" r:id="rId7"/>
    <p:sldId id="290" r:id="rId8"/>
    <p:sldId id="291" r:id="rId9"/>
    <p:sldId id="292" r:id="rId10"/>
  </p:sldIdLst>
  <p:sldSz cx="18288000" cy="10287000"/>
  <p:notesSz cx="6858000" cy="9144000"/>
  <p:embeddedFontLst>
    <p:embeddedFont>
      <p:font typeface="Lato" panose="020F0502020204030203" pitchFamily="34" charset="0"/>
      <p:regular r:id="rId11"/>
      <p:bold r:id="rId12"/>
    </p:embeddedFont>
    <p:embeddedFont>
      <p:font typeface="Lato Bold" panose="020F0502020204030203" charset="0"/>
      <p:regular r:id="rId13"/>
    </p:embeddedFont>
    <p:embeddedFont>
      <p:font typeface="Open Sans" panose="020B0606030504020204" pitchFamily="34" charset="0"/>
      <p:regular r:id="rId14"/>
      <p:bold r:id="rId15"/>
    </p:embeddedFont>
    <p:embeddedFont>
      <p:font typeface="Open Sans Extra Bold" panose="020B0604020202020204" charset="0"/>
      <p:regular r:id="rId16"/>
    </p:embeddedFont>
    <p:embeddedFont>
      <p:font typeface="Open Sauce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30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50" d="100"/>
          <a:sy n="50" d="100"/>
        </p:scale>
        <p:origin x="946" y="1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font" Target="fonts/font7.fnt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17763" y="260224"/>
            <a:ext cx="722102" cy="10026776"/>
            <a:chOff x="0" y="0"/>
            <a:chExt cx="248964" cy="1869420"/>
          </a:xfrm>
          <a:solidFill>
            <a:schemeClr val="accent5"/>
          </a:solidFill>
        </p:grpSpPr>
        <p:sp>
          <p:nvSpPr>
            <p:cNvPr id="4" name="Freeform 4"/>
            <p:cNvSpPr/>
            <p:nvPr/>
          </p:nvSpPr>
          <p:spPr>
            <a:xfrm>
              <a:off x="0" y="0"/>
              <a:ext cx="248964" cy="1869420"/>
            </a:xfrm>
            <a:custGeom>
              <a:avLst/>
              <a:gdLst/>
              <a:ahLst/>
              <a:cxnLst/>
              <a:rect l="l" t="t" r="r" b="b"/>
              <a:pathLst>
                <a:path w="248964" h="1869420">
                  <a:moveTo>
                    <a:pt x="0" y="0"/>
                  </a:moveTo>
                  <a:lnTo>
                    <a:pt x="248964" y="0"/>
                  </a:lnTo>
                  <a:lnTo>
                    <a:pt x="248964" y="1869420"/>
                  </a:lnTo>
                  <a:lnTo>
                    <a:pt x="0" y="1869420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57150"/>
              <a:ext cx="248964" cy="192657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5103481" y="-437854"/>
            <a:ext cx="2477360" cy="2725964"/>
          </a:xfrm>
          <a:custGeom>
            <a:avLst/>
            <a:gdLst/>
            <a:ahLst/>
            <a:cxnLst/>
            <a:rect l="l" t="t" r="r" b="b"/>
            <a:pathLst>
              <a:path w="2477360" h="2725964">
                <a:moveTo>
                  <a:pt x="0" y="0"/>
                </a:moveTo>
                <a:lnTo>
                  <a:pt x="2477360" y="0"/>
                </a:lnTo>
                <a:lnTo>
                  <a:pt x="2477360" y="2725965"/>
                </a:lnTo>
                <a:lnTo>
                  <a:pt x="0" y="272596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805" r="-231773" b="-25876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8" name="TextBox 18"/>
          <p:cNvSpPr txBox="1"/>
          <p:nvPr/>
        </p:nvSpPr>
        <p:spPr>
          <a:xfrm>
            <a:off x="1447800" y="1126873"/>
            <a:ext cx="14249400" cy="984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b="1" sz="2400">
                <a:solidFill>
                  <a:srgbClr val="2563EB"/>
                </a:solidFill>
                <a:latin typeface="Lato"/>
              </a:rPr>
              <a:t>Project Title :- </a:t>
            </a:r>
            <a:r>
              <a:rPr b="1" sz="2400">
                <a:solidFill>
                  <a:srgbClr val="0F172A"/>
                </a:solidFill>
                <a:latin typeface="Lato"/>
              </a:rPr>
              <a:t>OScope: Operating Systems Simulation &amp; Experimentation Laboratory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749739" y="2971818"/>
            <a:ext cx="3146827" cy="491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b="1" sz="1800">
                <a:solidFill>
                  <a:srgbClr val="0F172A"/>
                </a:solidFill>
                <a:latin typeface="Lato"/>
              </a:rPr>
              <a:t>DIV :- </a:t>
            </a:r>
            <a:r>
              <a:rPr b="0" sz="1800">
                <a:solidFill>
                  <a:srgbClr val="334155"/>
                </a:solidFill>
                <a:latin typeface="Lato"/>
              </a:rPr>
              <a:t>CSE(AI)-E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3106400" y="2876759"/>
            <a:ext cx="3024210" cy="491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b="1" sz="1800">
                <a:solidFill>
                  <a:srgbClr val="0F172A"/>
                </a:solidFill>
                <a:latin typeface="Lato"/>
              </a:rPr>
              <a:t>Day - </a:t>
            </a:r>
            <a:r>
              <a:rPr b="0" sz="1800">
                <a:solidFill>
                  <a:srgbClr val="334155"/>
                </a:solidFill>
                <a:latin typeface="Lato"/>
              </a:rPr>
              <a:t>Friday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727975" y="2928535"/>
            <a:ext cx="3483293" cy="492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b="1" sz="1800">
                <a:solidFill>
                  <a:srgbClr val="0F172A"/>
                </a:solidFill>
                <a:latin typeface="Lato"/>
              </a:rPr>
              <a:t>Date : </a:t>
            </a:r>
            <a:r>
              <a:rPr b="0" sz="1800">
                <a:solidFill>
                  <a:srgbClr val="334155"/>
                </a:solidFill>
                <a:latin typeface="Lato"/>
              </a:rPr>
              <a:t>30/10/2026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751105" y="3726802"/>
            <a:ext cx="8138160" cy="25083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spcAft>
                <a:spcPts val="800"/>
              </a:spcAft>
            </a:pPr>
            <a:r>
              <a:rPr b="1" sz="2000">
                <a:solidFill>
                  <a:srgbClr val="0F172A"/>
                </a:solidFill>
                <a:latin typeface="Lato"/>
              </a:rPr>
              <a:t>Presented by :-</a:t>
            </a:r>
          </a:p>
          <a:p>
            <a:pPr>
              <a:spcAft>
                <a:spcPts val="400"/>
              </a:spcAft>
            </a:pPr>
            <a:r>
              <a:rPr b="1" sz="1700">
                <a:solidFill>
                  <a:srgbClr val="0F172A"/>
                </a:solidFill>
                <a:latin typeface="Lato"/>
              </a:rPr>
              <a:t>Aditya Rana </a:t>
            </a:r>
            <a:r>
              <a:rPr b="0" sz="1700">
                <a:solidFill>
                  <a:srgbClr val="64748B"/>
                </a:solidFill>
                <a:latin typeface="Lato"/>
              </a:rPr>
              <a:t>  —  PRN: </a:t>
            </a:r>
            <a:r>
              <a:rPr b="1" sz="1700">
                <a:solidFill>
                  <a:srgbClr val="2563EB"/>
                </a:solidFill>
                <a:latin typeface="Lato"/>
              </a:rPr>
              <a:t>12413107</a:t>
            </a:r>
          </a:p>
          <a:p>
            <a:pPr>
              <a:spcAft>
                <a:spcPts val="400"/>
              </a:spcAft>
            </a:pPr>
            <a:r>
              <a:rPr b="1" sz="1700">
                <a:solidFill>
                  <a:srgbClr val="0F172A"/>
                </a:solidFill>
                <a:latin typeface="Lato"/>
              </a:rPr>
              <a:t>Nitish Sahu </a:t>
            </a:r>
            <a:r>
              <a:rPr b="0" sz="1700">
                <a:solidFill>
                  <a:srgbClr val="64748B"/>
                </a:solidFill>
                <a:latin typeface="Lato"/>
              </a:rPr>
              <a:t>  —  PRN: </a:t>
            </a:r>
            <a:r>
              <a:rPr b="1" sz="1700">
                <a:solidFill>
                  <a:srgbClr val="2563EB"/>
                </a:solidFill>
                <a:latin typeface="Lato"/>
              </a:rPr>
              <a:t>12412096</a:t>
            </a:r>
          </a:p>
          <a:p>
            <a:pPr>
              <a:spcAft>
                <a:spcPts val="400"/>
              </a:spcAft>
            </a:pPr>
            <a:r>
              <a:rPr b="1" sz="1700">
                <a:solidFill>
                  <a:srgbClr val="0F172A"/>
                </a:solidFill>
                <a:latin typeface="Lato"/>
              </a:rPr>
              <a:t>Palash Sahuji </a:t>
            </a:r>
            <a:r>
              <a:rPr b="0" sz="1700">
                <a:solidFill>
                  <a:srgbClr val="64748B"/>
                </a:solidFill>
                <a:latin typeface="Lato"/>
              </a:rPr>
              <a:t>  —  PRN: </a:t>
            </a:r>
            <a:r>
              <a:rPr b="1" sz="1700">
                <a:solidFill>
                  <a:srgbClr val="2563EB"/>
                </a:solidFill>
                <a:latin typeface="Lato"/>
              </a:rPr>
              <a:t>12414915</a:t>
            </a:r>
          </a:p>
          <a:p>
            <a:pPr>
              <a:spcAft>
                <a:spcPts val="400"/>
              </a:spcAft>
            </a:pPr>
            <a:r>
              <a:rPr b="1" sz="1700">
                <a:solidFill>
                  <a:srgbClr val="0F172A"/>
                </a:solidFill>
                <a:latin typeface="Lato"/>
              </a:rPr>
              <a:t>Manthan Sali </a:t>
            </a:r>
            <a:r>
              <a:rPr b="0" sz="1700">
                <a:solidFill>
                  <a:srgbClr val="64748B"/>
                </a:solidFill>
                <a:latin typeface="Lato"/>
              </a:rPr>
              <a:t>  —  PRN: </a:t>
            </a:r>
            <a:r>
              <a:rPr b="1" sz="1700">
                <a:solidFill>
                  <a:srgbClr val="2563EB"/>
                </a:solidFill>
                <a:latin typeface="Lato"/>
              </a:rPr>
              <a:t>12411978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677400" y="4502232"/>
            <a:ext cx="7347025" cy="491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b="1" sz="2000">
                <a:solidFill>
                  <a:srgbClr val="0F172A"/>
                </a:solidFill>
                <a:latin typeface="Lato"/>
              </a:rPr>
              <a:t>Project Guide :- </a:t>
            </a:r>
            <a:r>
              <a:rPr b="1" sz="2000">
                <a:solidFill>
                  <a:srgbClr val="2563EB"/>
                </a:solidFill>
                <a:latin typeface="Lato"/>
              </a:rPr>
              <a:t>Prof. Priyanka Khalate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56579" y="7272721"/>
            <a:ext cx="16972012" cy="1128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b="1" sz="2000">
                <a:solidFill>
                  <a:srgbClr val="0F172A"/>
                </a:solidFill>
                <a:latin typeface="Lato"/>
              </a:rPr>
              <a:t>DEPARTMENT OF COMPUTER SCIENCE ENGINEERING
(ARTIFICIAL INTELLIGENCE)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581400" y="8748304"/>
            <a:ext cx="11922371" cy="5476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b="1" sz="2200">
                <a:solidFill>
                  <a:srgbClr val="2563EB"/>
                </a:solidFill>
                <a:latin typeface="Lato"/>
              </a:rPr>
              <a:t>VISHWAKARMA INSTITUTE OF TECHNOLOGY, PUNE</a:t>
            </a:r>
          </a:p>
        </p:txBody>
      </p:sp>
      <p:sp>
        <p:nvSpPr>
          <p:cNvPr id="28" name="AutoShape 10"/>
          <p:cNvSpPr/>
          <p:nvPr/>
        </p:nvSpPr>
        <p:spPr>
          <a:xfrm flipV="1">
            <a:off x="839865" y="9835406"/>
            <a:ext cx="15414335" cy="0"/>
          </a:xfrm>
          <a:prstGeom prst="line">
            <a:avLst/>
          </a:prstGeom>
          <a:ln w="38100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29" name="Freeform 18"/>
          <p:cNvSpPr/>
          <p:nvPr/>
        </p:nvSpPr>
        <p:spPr>
          <a:xfrm>
            <a:off x="16376664" y="9462451"/>
            <a:ext cx="919202" cy="745910"/>
          </a:xfrm>
          <a:custGeom>
            <a:avLst/>
            <a:gdLst/>
            <a:ahLst/>
            <a:cxnLst/>
            <a:rect l="l" t="t" r="r" b="b"/>
            <a:pathLst>
              <a:path w="919202" h="745910">
                <a:moveTo>
                  <a:pt x="0" y="0"/>
                </a:moveTo>
                <a:lnTo>
                  <a:pt x="919201" y="0"/>
                </a:lnTo>
                <a:lnTo>
                  <a:pt x="919201" y="745909"/>
                </a:lnTo>
                <a:lnTo>
                  <a:pt x="0" y="74590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solidFill>
              <a:schemeClr val="accent5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30" name="AutoShape 11"/>
          <p:cNvSpPr/>
          <p:nvPr/>
        </p:nvSpPr>
        <p:spPr>
          <a:xfrm flipH="1">
            <a:off x="17295866" y="2965673"/>
            <a:ext cx="23446" cy="6330281"/>
          </a:xfrm>
          <a:prstGeom prst="line">
            <a:avLst/>
          </a:prstGeom>
          <a:ln w="38100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31" name="AutoShape 16"/>
          <p:cNvSpPr/>
          <p:nvPr/>
        </p:nvSpPr>
        <p:spPr>
          <a:xfrm>
            <a:off x="1547646" y="727022"/>
            <a:ext cx="903745" cy="0"/>
          </a:xfrm>
          <a:prstGeom prst="line">
            <a:avLst/>
          </a:prstGeom>
          <a:ln w="238125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0" y="0"/>
            <a:ext cx="1028700" cy="10287000"/>
            <a:chOff x="0" y="0"/>
            <a:chExt cx="270933" cy="466552"/>
          </a:xfrm>
          <a:solidFill>
            <a:schemeClr val="accent5"/>
          </a:solidFill>
        </p:grpSpPr>
        <p:sp>
          <p:nvSpPr>
            <p:cNvPr id="4" name="Freeform 4"/>
            <p:cNvSpPr/>
            <p:nvPr/>
          </p:nvSpPr>
          <p:spPr>
            <a:xfrm>
              <a:off x="0" y="0"/>
              <a:ext cx="270933" cy="466552"/>
            </a:xfrm>
            <a:custGeom>
              <a:avLst/>
              <a:gdLst/>
              <a:ahLst/>
              <a:cxnLst/>
              <a:rect l="l" t="t" r="r" b="b"/>
              <a:pathLst>
                <a:path w="270933" h="466552">
                  <a:moveTo>
                    <a:pt x="0" y="0"/>
                  </a:moveTo>
                  <a:lnTo>
                    <a:pt x="270933" y="0"/>
                  </a:lnTo>
                  <a:lnTo>
                    <a:pt x="270933" y="466552"/>
                  </a:lnTo>
                  <a:lnTo>
                    <a:pt x="0" y="466552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0207" y="54727"/>
              <a:ext cx="210726" cy="411825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23107" y="2850095"/>
            <a:ext cx="12408632" cy="10500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326"/>
              </a:lnSpc>
            </a:pPr>
            <a:endParaRPr dirty="0"/>
          </a:p>
          <a:p>
            <a:pPr algn="just">
              <a:lnSpc>
                <a:spcPts val="4326"/>
              </a:lnSpc>
            </a:pPr>
            <a:endParaRPr lang="en-US" sz="2884" spc="187" dirty="0">
              <a:solidFill>
                <a:srgbClr val="00000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0" y="9258300"/>
            <a:ext cx="1028700" cy="1028700"/>
            <a:chOff x="0" y="0"/>
            <a:chExt cx="270933" cy="270933"/>
          </a:xfrm>
          <a:solidFill>
            <a:schemeClr val="accent5"/>
          </a:solidFill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pFill/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270933" cy="328083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AutoShape 10"/>
          <p:cNvSpPr/>
          <p:nvPr/>
        </p:nvSpPr>
        <p:spPr>
          <a:xfrm>
            <a:off x="1723107" y="9277350"/>
            <a:ext cx="14479624" cy="0"/>
          </a:xfrm>
          <a:prstGeom prst="line">
            <a:avLst/>
          </a:prstGeom>
          <a:ln w="38100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1" name="AutoShape 11"/>
          <p:cNvSpPr/>
          <p:nvPr/>
        </p:nvSpPr>
        <p:spPr>
          <a:xfrm flipH="1">
            <a:off x="17240250" y="3024088"/>
            <a:ext cx="0" cy="5293724"/>
          </a:xfrm>
          <a:prstGeom prst="line">
            <a:avLst/>
          </a:prstGeom>
          <a:ln w="38100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6" name="AutoShape 16"/>
          <p:cNvSpPr/>
          <p:nvPr/>
        </p:nvSpPr>
        <p:spPr>
          <a:xfrm>
            <a:off x="1723107" y="2460438"/>
            <a:ext cx="903745" cy="0"/>
          </a:xfrm>
          <a:prstGeom prst="line">
            <a:avLst/>
          </a:prstGeom>
          <a:ln w="238125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Box 17"/>
          <p:cNvSpPr txBox="1"/>
          <p:nvPr/>
        </p:nvSpPr>
        <p:spPr>
          <a:xfrm>
            <a:off x="1097280" y="777240"/>
            <a:ext cx="12801600" cy="109728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r>
              <a:rPr b="1" sz="4400">
                <a:solidFill>
                  <a:srgbClr val="0F172A"/>
                </a:solidFill>
                <a:latin typeface="Lato"/>
              </a:rPr>
              <a:t>Overview</a:t>
            </a:r>
          </a:p>
        </p:txBody>
      </p:sp>
      <p:sp>
        <p:nvSpPr>
          <p:cNvPr id="18" name="Freeform 18"/>
          <p:cNvSpPr/>
          <p:nvPr/>
        </p:nvSpPr>
        <p:spPr>
          <a:xfrm>
            <a:off x="16778563" y="8673435"/>
            <a:ext cx="919202" cy="745910"/>
          </a:xfrm>
          <a:custGeom>
            <a:avLst/>
            <a:gdLst/>
            <a:ahLst/>
            <a:cxnLst/>
            <a:rect l="l" t="t" r="r" b="b"/>
            <a:pathLst>
              <a:path w="919202" h="745910">
                <a:moveTo>
                  <a:pt x="0" y="0"/>
                </a:moveTo>
                <a:lnTo>
                  <a:pt x="919201" y="0"/>
                </a:lnTo>
                <a:lnTo>
                  <a:pt x="919201" y="745909"/>
                </a:lnTo>
                <a:lnTo>
                  <a:pt x="0" y="74590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solidFill>
              <a:schemeClr val="accent5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/>
          <p:cNvSpPr/>
          <p:nvPr/>
        </p:nvSpPr>
        <p:spPr>
          <a:xfrm>
            <a:off x="1645920" y="2194560"/>
            <a:ext cx="14996159" cy="7132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1800"/>
              </a:spcAft>
            </a:pPr>
            <a:r>
              <a:rPr b="0" sz="2200">
                <a:solidFill>
                  <a:srgbClr val="334155"/>
                </a:solidFill>
                <a:latin typeface="Lato"/>
              </a:rPr>
              <a:t>1. Introduction &amp; Project Scope</a:t>
            </a:r>
          </a:p>
          <a:p>
            <a:pPr>
              <a:lnSpc>
                <a:spcPct val="122000"/>
              </a:lnSpc>
              <a:spcAft>
                <a:spcPts val="1800"/>
              </a:spcAft>
            </a:pPr>
            <a:r>
              <a:rPr b="0" sz="2200">
                <a:solidFill>
                  <a:srgbClr val="334155"/>
                </a:solidFill>
                <a:latin typeface="Lato"/>
              </a:rPr>
              <a:t>2. Motivation &amp; Problem Statement</a:t>
            </a:r>
          </a:p>
          <a:p>
            <a:pPr>
              <a:lnSpc>
                <a:spcPct val="122000"/>
              </a:lnSpc>
              <a:spcAft>
                <a:spcPts val="1800"/>
              </a:spcAft>
            </a:pPr>
            <a:r>
              <a:rPr b="0" sz="2200">
                <a:solidFill>
                  <a:srgbClr val="334155"/>
                </a:solidFill>
                <a:latin typeface="Lato"/>
              </a:rPr>
              <a:t>3. Project Objectives &amp; Deliverables</a:t>
            </a:r>
          </a:p>
          <a:p>
            <a:pPr>
              <a:lnSpc>
                <a:spcPct val="122000"/>
              </a:lnSpc>
              <a:spcAft>
                <a:spcPts val="1800"/>
              </a:spcAft>
            </a:pPr>
            <a:r>
              <a:rPr b="0" sz="2200">
                <a:solidFill>
                  <a:srgbClr val="334155"/>
                </a:solidFill>
                <a:latin typeface="Lato"/>
              </a:rPr>
              <a:t>4. Design &amp; 4-Tier System Architecture</a:t>
            </a:r>
          </a:p>
          <a:p>
            <a:pPr>
              <a:lnSpc>
                <a:spcPct val="122000"/>
              </a:lnSpc>
              <a:spcAft>
                <a:spcPts val="1800"/>
              </a:spcAft>
            </a:pPr>
            <a:r>
              <a:rPr b="0" sz="2200">
                <a:solidFill>
                  <a:srgbClr val="334155"/>
                </a:solidFill>
                <a:latin typeface="Lato"/>
              </a:rPr>
              <a:t>5. Technical Stack &amp; Implementation Details</a:t>
            </a:r>
          </a:p>
          <a:p>
            <a:pPr>
              <a:lnSpc>
                <a:spcPct val="122000"/>
              </a:lnSpc>
              <a:spcAft>
                <a:spcPts val="1800"/>
              </a:spcAft>
            </a:pPr>
            <a:r>
              <a:rPr b="0" sz="2200">
                <a:solidFill>
                  <a:srgbClr val="334155"/>
                </a:solidFill>
                <a:latin typeface="Lato"/>
              </a:rPr>
              <a:t>6. Academic References &amp; Citations</a:t>
            </a:r>
          </a:p>
          <a:p>
            <a:pPr>
              <a:lnSpc>
                <a:spcPct val="122000"/>
              </a:lnSpc>
              <a:spcAft>
                <a:spcPts val="1800"/>
              </a:spcAft>
            </a:pPr>
            <a:r>
              <a:rPr b="0" sz="2200">
                <a:solidFill>
                  <a:srgbClr val="334155"/>
                </a:solidFill>
                <a:latin typeface="Lato"/>
              </a:rPr>
              <a:t>7. Conclusion &amp; Project Summary</a:t>
            </a:r>
          </a:p>
        </p:txBody>
      </p:sp>
      <p:sp>
        <p:nvSpPr>
          <p:cNvPr id="15" name="Freeform 10"/>
          <p:cNvSpPr/>
          <p:nvPr/>
        </p:nvSpPr>
        <p:spPr>
          <a:xfrm>
            <a:off x="14760804" y="0"/>
            <a:ext cx="2477360" cy="2095128"/>
          </a:xfrm>
          <a:custGeom>
            <a:avLst/>
            <a:gdLst/>
            <a:ahLst/>
            <a:cxnLst/>
            <a:rect l="l" t="t" r="r" b="b"/>
            <a:pathLst>
              <a:path w="2477360" h="2725964">
                <a:moveTo>
                  <a:pt x="0" y="0"/>
                </a:moveTo>
                <a:lnTo>
                  <a:pt x="2477360" y="0"/>
                </a:lnTo>
                <a:lnTo>
                  <a:pt x="2477360" y="2725965"/>
                </a:lnTo>
                <a:lnTo>
                  <a:pt x="0" y="272596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805" r="-231773" b="-25876"/>
            </a:stretch>
          </a:blipFill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22349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0" y="0"/>
            <a:ext cx="1028700" cy="10287000"/>
            <a:chOff x="0" y="0"/>
            <a:chExt cx="270933" cy="466552"/>
          </a:xfrm>
          <a:solidFill>
            <a:schemeClr val="accent5"/>
          </a:solidFill>
        </p:grpSpPr>
        <p:sp>
          <p:nvSpPr>
            <p:cNvPr id="4" name="Freeform 4"/>
            <p:cNvSpPr/>
            <p:nvPr/>
          </p:nvSpPr>
          <p:spPr>
            <a:xfrm>
              <a:off x="0" y="0"/>
              <a:ext cx="270933" cy="466552"/>
            </a:xfrm>
            <a:custGeom>
              <a:avLst/>
              <a:gdLst/>
              <a:ahLst/>
              <a:cxnLst/>
              <a:rect l="l" t="t" r="r" b="b"/>
              <a:pathLst>
                <a:path w="270933" h="466552">
                  <a:moveTo>
                    <a:pt x="0" y="0"/>
                  </a:moveTo>
                  <a:lnTo>
                    <a:pt x="270933" y="0"/>
                  </a:lnTo>
                  <a:lnTo>
                    <a:pt x="270933" y="466552"/>
                  </a:lnTo>
                  <a:lnTo>
                    <a:pt x="0" y="466552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0207" y="54727"/>
              <a:ext cx="210726" cy="411825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23107" y="2850095"/>
            <a:ext cx="12408632" cy="10500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326"/>
              </a:lnSpc>
            </a:pPr>
            <a:endParaRPr dirty="0"/>
          </a:p>
          <a:p>
            <a:pPr algn="just">
              <a:lnSpc>
                <a:spcPts val="4326"/>
              </a:lnSpc>
            </a:pPr>
            <a:endParaRPr lang="en-US" sz="2884" spc="187" dirty="0">
              <a:solidFill>
                <a:srgbClr val="00000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0" y="9258300"/>
            <a:ext cx="1028700" cy="1028700"/>
            <a:chOff x="0" y="0"/>
            <a:chExt cx="270933" cy="270933"/>
          </a:xfrm>
          <a:solidFill>
            <a:schemeClr val="accent5"/>
          </a:solidFill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pFill/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270933" cy="328083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AutoShape 10"/>
          <p:cNvSpPr/>
          <p:nvPr/>
        </p:nvSpPr>
        <p:spPr>
          <a:xfrm>
            <a:off x="1723107" y="9277350"/>
            <a:ext cx="14479624" cy="0"/>
          </a:xfrm>
          <a:prstGeom prst="line">
            <a:avLst/>
          </a:prstGeom>
          <a:ln w="38100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1" name="AutoShape 11"/>
          <p:cNvSpPr/>
          <p:nvPr/>
        </p:nvSpPr>
        <p:spPr>
          <a:xfrm flipH="1">
            <a:off x="17240250" y="3024088"/>
            <a:ext cx="0" cy="5293724"/>
          </a:xfrm>
          <a:prstGeom prst="line">
            <a:avLst/>
          </a:prstGeom>
          <a:ln w="38100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6" name="AutoShape 16"/>
          <p:cNvSpPr/>
          <p:nvPr/>
        </p:nvSpPr>
        <p:spPr>
          <a:xfrm>
            <a:off x="1723107" y="2097206"/>
            <a:ext cx="903745" cy="0"/>
          </a:xfrm>
          <a:prstGeom prst="line">
            <a:avLst/>
          </a:prstGeom>
          <a:ln w="238125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Box 17"/>
          <p:cNvSpPr txBox="1"/>
          <p:nvPr/>
        </p:nvSpPr>
        <p:spPr>
          <a:xfrm>
            <a:off x="1097280" y="777240"/>
            <a:ext cx="12801600" cy="109728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r>
              <a:rPr b="1" sz="4400">
                <a:solidFill>
                  <a:srgbClr val="0F172A"/>
                </a:solidFill>
                <a:latin typeface="Lato"/>
              </a:rPr>
              <a:t>Introduction</a:t>
            </a:r>
          </a:p>
        </p:txBody>
      </p:sp>
      <p:sp>
        <p:nvSpPr>
          <p:cNvPr id="18" name="Freeform 18"/>
          <p:cNvSpPr/>
          <p:nvPr/>
        </p:nvSpPr>
        <p:spPr>
          <a:xfrm>
            <a:off x="16778563" y="8673435"/>
            <a:ext cx="919202" cy="745910"/>
          </a:xfrm>
          <a:custGeom>
            <a:avLst/>
            <a:gdLst/>
            <a:ahLst/>
            <a:cxnLst/>
            <a:rect l="l" t="t" r="r" b="b"/>
            <a:pathLst>
              <a:path w="919202" h="745910">
                <a:moveTo>
                  <a:pt x="0" y="0"/>
                </a:moveTo>
                <a:lnTo>
                  <a:pt x="919201" y="0"/>
                </a:lnTo>
                <a:lnTo>
                  <a:pt x="919201" y="745909"/>
                </a:lnTo>
                <a:lnTo>
                  <a:pt x="0" y="74590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solidFill>
              <a:schemeClr val="accent5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/>
          <p:cNvSpPr/>
          <p:nvPr/>
        </p:nvSpPr>
        <p:spPr>
          <a:xfrm>
            <a:off x="1097280" y="2194560"/>
            <a:ext cx="8046720" cy="7132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b="1" sz="1700">
                <a:solidFill>
                  <a:srgbClr val="0F172A"/>
                </a:solidFill>
                <a:latin typeface="Lato"/>
              </a:rPr>
              <a:t>Interactive Systems Laboratory:</a:t>
            </a:r>
            <a:r>
              <a:rPr b="0" sz="1700">
                <a:solidFill>
                  <a:srgbClr val="334155"/>
                </a:solidFill>
                <a:latin typeface="Lato"/>
              </a:rPr>
              <a:t> Connects theoretical Operating System principles with real algorithmic execution, measurement, vector visualization, and comparative benchmarks.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b="1" sz="1700">
                <a:solidFill>
                  <a:srgbClr val="0F172A"/>
                </a:solidFill>
                <a:latin typeface="Lato"/>
              </a:rPr>
              <a:t>Bridging Abstract Theory:</a:t>
            </a:r>
            <a:r>
              <a:rPr b="0" sz="1700">
                <a:solidFill>
                  <a:srgbClr val="334155"/>
                </a:solidFill>
                <a:latin typeface="Lato"/>
              </a:rPr>
              <a:t> Eliminates black-box confusion by demystifying how CPU dispatching, dynamic memory placement, virtual paging, and deadlocks function in practice.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b="1" sz="1700">
                <a:solidFill>
                  <a:srgbClr val="0F172A"/>
                </a:solidFill>
                <a:latin typeface="Lato"/>
              </a:rPr>
              <a:t>Dual-Pillar Architecture:</a:t>
            </a:r>
            <a:r>
              <a:rPr b="0" sz="1700">
                <a:solidFill>
                  <a:srgbClr val="334155"/>
                </a:solidFill>
                <a:latin typeface="Lato"/>
              </a:rPr>
              <a:t> Couples an authoritative C++20 simulation core with real Linux/POSIX kernel interfaces (fork/execve process trees, anonymous pipes, semaphores, and /proc telemetry).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b="1" sz="1700">
                <a:solidFill>
                  <a:srgbClr val="0F172A"/>
                </a:solidFill>
                <a:latin typeface="Lato"/>
              </a:rPr>
              <a:t>Production-Grade Web Experience:</a:t>
            </a:r>
            <a:r>
              <a:rPr b="0" sz="1700">
                <a:solidFill>
                  <a:srgbClr val="334155"/>
                </a:solidFill>
                <a:latin typeface="Lato"/>
              </a:rPr>
              <a:t> Delivers an accessible, zero-dependency modern light-mode engineering platform inspired by Linear/Geist design guidelines across 10 distinct OS domains.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0588309-5823-B91D-F091-DEA9FF2FD5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7559" y="0"/>
            <a:ext cx="2478024" cy="2093976"/>
          </a:xfrm>
          <a:prstGeom prst="rect">
            <a:avLst/>
          </a:prstGeom>
        </p:spPr>
      </p:pic>
      <p:pic>
        <p:nvPicPr>
          <p:cNvPr id="19" name="Picture 18" descr="modules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194560"/>
            <a:ext cx="80467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0" y="0"/>
            <a:ext cx="1028700" cy="10287000"/>
            <a:chOff x="0" y="0"/>
            <a:chExt cx="270933" cy="466552"/>
          </a:xfrm>
          <a:solidFill>
            <a:schemeClr val="accent5"/>
          </a:solidFill>
        </p:grpSpPr>
        <p:sp>
          <p:nvSpPr>
            <p:cNvPr id="4" name="Freeform 4"/>
            <p:cNvSpPr/>
            <p:nvPr/>
          </p:nvSpPr>
          <p:spPr>
            <a:xfrm>
              <a:off x="0" y="0"/>
              <a:ext cx="270933" cy="466552"/>
            </a:xfrm>
            <a:custGeom>
              <a:avLst/>
              <a:gdLst/>
              <a:ahLst/>
              <a:cxnLst/>
              <a:rect l="l" t="t" r="r" b="b"/>
              <a:pathLst>
                <a:path w="270933" h="466552">
                  <a:moveTo>
                    <a:pt x="0" y="0"/>
                  </a:moveTo>
                  <a:lnTo>
                    <a:pt x="270933" y="0"/>
                  </a:lnTo>
                  <a:lnTo>
                    <a:pt x="270933" y="466552"/>
                  </a:lnTo>
                  <a:lnTo>
                    <a:pt x="0" y="466552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0207" y="54727"/>
              <a:ext cx="210726" cy="411825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23107" y="2850095"/>
            <a:ext cx="12408632" cy="10500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326"/>
              </a:lnSpc>
            </a:pPr>
            <a:endParaRPr dirty="0"/>
          </a:p>
          <a:p>
            <a:pPr algn="just">
              <a:lnSpc>
                <a:spcPts val="4326"/>
              </a:lnSpc>
            </a:pPr>
            <a:endParaRPr lang="en-US" sz="2884" spc="187" dirty="0">
              <a:solidFill>
                <a:srgbClr val="00000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0" y="9258300"/>
            <a:ext cx="1028700" cy="1028700"/>
            <a:chOff x="0" y="0"/>
            <a:chExt cx="270933" cy="270933"/>
          </a:xfrm>
          <a:solidFill>
            <a:schemeClr val="accent5"/>
          </a:solidFill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pFill/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270933" cy="328083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AutoShape 10"/>
          <p:cNvSpPr/>
          <p:nvPr/>
        </p:nvSpPr>
        <p:spPr>
          <a:xfrm>
            <a:off x="1723107" y="9277350"/>
            <a:ext cx="14479624" cy="0"/>
          </a:xfrm>
          <a:prstGeom prst="line">
            <a:avLst/>
          </a:prstGeom>
          <a:ln w="38100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1" name="AutoShape 11"/>
          <p:cNvSpPr/>
          <p:nvPr/>
        </p:nvSpPr>
        <p:spPr>
          <a:xfrm flipH="1">
            <a:off x="17240250" y="3024088"/>
            <a:ext cx="0" cy="5293724"/>
          </a:xfrm>
          <a:prstGeom prst="line">
            <a:avLst/>
          </a:prstGeom>
          <a:ln w="38100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6" name="AutoShape 16"/>
          <p:cNvSpPr/>
          <p:nvPr/>
        </p:nvSpPr>
        <p:spPr>
          <a:xfrm>
            <a:off x="1723107" y="2460438"/>
            <a:ext cx="903745" cy="0"/>
          </a:xfrm>
          <a:prstGeom prst="line">
            <a:avLst/>
          </a:prstGeom>
          <a:ln w="238125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Box 17"/>
          <p:cNvSpPr txBox="1"/>
          <p:nvPr/>
        </p:nvSpPr>
        <p:spPr>
          <a:xfrm>
            <a:off x="1097280" y="777240"/>
            <a:ext cx="12801600" cy="109728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r>
              <a:rPr b="1" sz="4400">
                <a:solidFill>
                  <a:srgbClr val="0F172A"/>
                </a:solidFill>
                <a:latin typeface="Lato"/>
              </a:rPr>
              <a:t>Motivation</a:t>
            </a:r>
          </a:p>
        </p:txBody>
      </p:sp>
      <p:sp>
        <p:nvSpPr>
          <p:cNvPr id="18" name="Freeform 18"/>
          <p:cNvSpPr/>
          <p:nvPr/>
        </p:nvSpPr>
        <p:spPr>
          <a:xfrm>
            <a:off x="16778563" y="8673435"/>
            <a:ext cx="919202" cy="745910"/>
          </a:xfrm>
          <a:custGeom>
            <a:avLst/>
            <a:gdLst/>
            <a:ahLst/>
            <a:cxnLst/>
            <a:rect l="l" t="t" r="r" b="b"/>
            <a:pathLst>
              <a:path w="919202" h="745910">
                <a:moveTo>
                  <a:pt x="0" y="0"/>
                </a:moveTo>
                <a:lnTo>
                  <a:pt x="919201" y="0"/>
                </a:lnTo>
                <a:lnTo>
                  <a:pt x="919201" y="745909"/>
                </a:lnTo>
                <a:lnTo>
                  <a:pt x="0" y="74590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solidFill>
              <a:schemeClr val="accent5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/>
          <p:cNvSpPr/>
          <p:nvPr/>
        </p:nvSpPr>
        <p:spPr>
          <a:xfrm>
            <a:off x="1097280" y="2194560"/>
            <a:ext cx="8046720" cy="7132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b="1" sz="1700">
                <a:solidFill>
                  <a:srgbClr val="0F172A"/>
                </a:solidFill>
                <a:latin typeface="Lato"/>
              </a:rPr>
              <a:t>High Cognitive Barrier:</a:t>
            </a:r>
            <a:r>
              <a:rPr b="0" sz="1700">
                <a:solidFill>
                  <a:srgbClr val="334155"/>
                </a:solidFill>
                <a:latin typeface="Lato"/>
              </a:rPr>
              <a:t> Abstract kernel concepts (address translation, multi-queue preemption, Belady's anomaly) are hidden in kernel space and difficult to grasp from static textbook diagrams.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b="1" sz="1700">
                <a:solidFill>
                  <a:srgbClr val="0F172A"/>
                </a:solidFill>
                <a:latin typeface="Lato"/>
              </a:rPr>
              <a:t>Severe Tool Fragmentation:</a:t>
            </a:r>
            <a:r>
              <a:rPr b="0" sz="1700">
                <a:solidFill>
                  <a:srgbClr val="334155"/>
                </a:solidFill>
                <a:latin typeface="Lato"/>
              </a:rPr>
              <a:t> Students are forced to switch between disconnected, single-topic CLI programs or abandoned 2000s Java applets with no unified workflow.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b="1" sz="1700">
                <a:solidFill>
                  <a:srgbClr val="0F172A"/>
                </a:solidFill>
                <a:latin typeface="Lato"/>
              </a:rPr>
              <a:t>Lack of Empirical Verification:</a:t>
            </a:r>
            <a:r>
              <a:rPr b="0" sz="1700">
                <a:solidFill>
                  <a:srgbClr val="334155"/>
                </a:solidFill>
                <a:latin typeface="Lato"/>
              </a:rPr>
              <a:t> Inability to systematically test and benchmark edge cases (convoy effects, priority inversions, memory fragmentation, and safe vs unsafe state sequences).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b="1" sz="1700">
                <a:solidFill>
                  <a:srgbClr val="0F172A"/>
                </a:solidFill>
                <a:latin typeface="Lato"/>
              </a:rPr>
              <a:t>Active Learning Methodology:</a:t>
            </a:r>
            <a:r>
              <a:rPr b="0" sz="1700">
                <a:solidFill>
                  <a:srgbClr val="334155"/>
                </a:solidFill>
                <a:latin typeface="Lato"/>
              </a:rPr>
              <a:t> Addresses the proven pedagogical pipeline: Learn -&gt; Configure Workloads -&gt; Execute C++ Simulation -&gt; Observe Vector Visualizers -&gt; Measure Metrics -&gt; Analyze.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58E4A21-9D9D-571F-D536-7B858BE8C3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7559" y="0"/>
            <a:ext cx="2478024" cy="2093976"/>
          </a:xfrm>
          <a:prstGeom prst="rect">
            <a:avLst/>
          </a:prstGeom>
        </p:spPr>
      </p:pic>
      <p:pic>
        <p:nvPicPr>
          <p:cNvPr id="20" name="Picture 19" descr="visualizers_showc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194560"/>
            <a:ext cx="80467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0" y="0"/>
            <a:ext cx="1028700" cy="10287000"/>
            <a:chOff x="0" y="0"/>
            <a:chExt cx="270933" cy="466552"/>
          </a:xfrm>
          <a:solidFill>
            <a:schemeClr val="accent5"/>
          </a:solidFill>
        </p:grpSpPr>
        <p:sp>
          <p:nvSpPr>
            <p:cNvPr id="4" name="Freeform 4"/>
            <p:cNvSpPr/>
            <p:nvPr/>
          </p:nvSpPr>
          <p:spPr>
            <a:xfrm>
              <a:off x="0" y="0"/>
              <a:ext cx="270933" cy="466552"/>
            </a:xfrm>
            <a:custGeom>
              <a:avLst/>
              <a:gdLst/>
              <a:ahLst/>
              <a:cxnLst/>
              <a:rect l="l" t="t" r="r" b="b"/>
              <a:pathLst>
                <a:path w="270933" h="466552">
                  <a:moveTo>
                    <a:pt x="0" y="0"/>
                  </a:moveTo>
                  <a:lnTo>
                    <a:pt x="270933" y="0"/>
                  </a:lnTo>
                  <a:lnTo>
                    <a:pt x="270933" y="466552"/>
                  </a:lnTo>
                  <a:lnTo>
                    <a:pt x="0" y="466552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0207" y="54727"/>
              <a:ext cx="210726" cy="411825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23107" y="2850095"/>
            <a:ext cx="12408632" cy="10500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326"/>
              </a:lnSpc>
            </a:pPr>
            <a:endParaRPr dirty="0"/>
          </a:p>
          <a:p>
            <a:pPr algn="just">
              <a:lnSpc>
                <a:spcPts val="4326"/>
              </a:lnSpc>
            </a:pPr>
            <a:endParaRPr lang="en-US" sz="2884" spc="187" dirty="0">
              <a:solidFill>
                <a:srgbClr val="00000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0" y="9258300"/>
            <a:ext cx="1028700" cy="1028700"/>
            <a:chOff x="0" y="0"/>
            <a:chExt cx="270933" cy="270933"/>
          </a:xfrm>
          <a:solidFill>
            <a:schemeClr val="accent5"/>
          </a:solidFill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pFill/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270933" cy="328083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AutoShape 10"/>
          <p:cNvSpPr/>
          <p:nvPr/>
        </p:nvSpPr>
        <p:spPr>
          <a:xfrm>
            <a:off x="1723107" y="9277350"/>
            <a:ext cx="14479624" cy="0"/>
          </a:xfrm>
          <a:prstGeom prst="line">
            <a:avLst/>
          </a:prstGeom>
          <a:ln w="38100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1" name="AutoShape 11"/>
          <p:cNvSpPr/>
          <p:nvPr/>
        </p:nvSpPr>
        <p:spPr>
          <a:xfrm flipH="1">
            <a:off x="17240250" y="3024088"/>
            <a:ext cx="0" cy="5293724"/>
          </a:xfrm>
          <a:prstGeom prst="line">
            <a:avLst/>
          </a:prstGeom>
          <a:ln w="38100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6" name="AutoShape 16"/>
          <p:cNvSpPr/>
          <p:nvPr/>
        </p:nvSpPr>
        <p:spPr>
          <a:xfrm>
            <a:off x="1723107" y="2460438"/>
            <a:ext cx="903745" cy="0"/>
          </a:xfrm>
          <a:prstGeom prst="line">
            <a:avLst/>
          </a:prstGeom>
          <a:ln w="238125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Box 17"/>
          <p:cNvSpPr txBox="1"/>
          <p:nvPr/>
        </p:nvSpPr>
        <p:spPr>
          <a:xfrm>
            <a:off x="1097280" y="777240"/>
            <a:ext cx="12801600" cy="109728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r>
              <a:rPr b="1" sz="4400">
                <a:solidFill>
                  <a:srgbClr val="0F172A"/>
                </a:solidFill>
                <a:latin typeface="Lato"/>
              </a:rPr>
              <a:t>Objective</a:t>
            </a:r>
          </a:p>
        </p:txBody>
      </p:sp>
      <p:sp>
        <p:nvSpPr>
          <p:cNvPr id="18" name="Freeform 18"/>
          <p:cNvSpPr/>
          <p:nvPr/>
        </p:nvSpPr>
        <p:spPr>
          <a:xfrm>
            <a:off x="16778563" y="8673435"/>
            <a:ext cx="919202" cy="745910"/>
          </a:xfrm>
          <a:custGeom>
            <a:avLst/>
            <a:gdLst/>
            <a:ahLst/>
            <a:cxnLst/>
            <a:rect l="l" t="t" r="r" b="b"/>
            <a:pathLst>
              <a:path w="919202" h="745910">
                <a:moveTo>
                  <a:pt x="0" y="0"/>
                </a:moveTo>
                <a:lnTo>
                  <a:pt x="919201" y="0"/>
                </a:lnTo>
                <a:lnTo>
                  <a:pt x="919201" y="745909"/>
                </a:lnTo>
                <a:lnTo>
                  <a:pt x="0" y="74590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solidFill>
              <a:schemeClr val="accent5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/>
          <p:cNvSpPr/>
          <p:nvPr/>
        </p:nvSpPr>
        <p:spPr>
          <a:xfrm>
            <a:off x="1645920" y="2194560"/>
            <a:ext cx="14996159" cy="7132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1800"/>
              </a:spcAft>
            </a:pPr>
            <a:r>
              <a:rPr b="1" sz="1900">
                <a:solidFill>
                  <a:srgbClr val="0F172A"/>
                </a:solidFill>
                <a:latin typeface="Lato"/>
              </a:rPr>
              <a:t>Unified 10-Module Suite:</a:t>
            </a:r>
            <a:r>
              <a:rPr b="0" sz="1900">
                <a:solidFill>
                  <a:srgbClr val="334155"/>
                </a:solidFill>
                <a:latin typeface="Lato"/>
              </a:rPr>
              <a:t> Build a comprehensive laboratory covering CPU Scheduling, Dynamic Memory, Page Replacement, Banker's Deadlock Avoidance, Disk Arm Seek, Virtual Memory MMU, File Systems, Process Lifecycle, POSIX Concurrency, and Host Telemetry.</a:t>
            </a:r>
          </a:p>
          <a:p>
            <a:pPr>
              <a:lnSpc>
                <a:spcPct val="122000"/>
              </a:lnSpc>
              <a:spcAft>
                <a:spcPts val="1800"/>
              </a:spcAft>
            </a:pPr>
            <a:r>
              <a:rPr b="1" sz="1900">
                <a:solidFill>
                  <a:srgbClr val="0F172A"/>
                </a:solidFill>
                <a:latin typeface="Lato"/>
              </a:rPr>
              <a:t>High-Precision Vector Visualizers:</a:t>
            </a:r>
            <a:r>
              <a:rPr b="0" sz="1900">
                <a:solidFill>
                  <a:srgbClr val="334155"/>
                </a:solidFill>
                <a:latin typeface="Lato"/>
              </a:rPr>
              <a:t> Implement native SVG rendering for Gantt charts with millisecond guidelines, memory maps with fragmentation analysis, step-by-step frame steppers, and cylinder seek plots.</a:t>
            </a:r>
          </a:p>
          <a:p>
            <a:pPr>
              <a:lnSpc>
                <a:spcPct val="122000"/>
              </a:lnSpc>
              <a:spcAft>
                <a:spcPts val="1800"/>
              </a:spcAft>
            </a:pPr>
            <a:r>
              <a:rPr b="1" sz="1900">
                <a:solidFill>
                  <a:srgbClr val="0F172A"/>
                </a:solidFill>
                <a:latin typeface="Lato"/>
              </a:rPr>
              <a:t>Authoritative C++ Core &amp; Deterministic Benchmarking:</a:t>
            </a:r>
            <a:r>
              <a:rPr b="0" sz="1900">
                <a:solidFill>
                  <a:srgbClr val="334155"/>
                </a:solidFill>
                <a:latin typeface="Lato"/>
              </a:rPr>
              <a:t> Connect simulations to a compiled C++20 engine verified by 356 GoogleTests, providing reproducible textbook presets (Belady's anomaly, convoy effect, safe sequence).</a:t>
            </a:r>
          </a:p>
          <a:p>
            <a:pPr>
              <a:lnSpc>
                <a:spcPct val="122000"/>
              </a:lnSpc>
              <a:spcAft>
                <a:spcPts val="1800"/>
              </a:spcAft>
            </a:pPr>
            <a:r>
              <a:rPr b="1" sz="1900">
                <a:solidFill>
                  <a:srgbClr val="0F172A"/>
                </a:solidFill>
                <a:latin typeface="Lato"/>
              </a:rPr>
              <a:t>Dual Modern Interface:</a:t>
            </a:r>
            <a:r>
              <a:rPr b="0" sz="1900">
                <a:solidFill>
                  <a:srgbClr val="334155"/>
                </a:solidFill>
                <a:latin typeface="Lato"/>
              </a:rPr>
              <a:t> Deliver a zero-dependency light-mode web application and a native PySide6 desktop GUI with 150 automated end-to-end pytest tests.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04892FC-3651-7240-1953-9B3C506E17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7559" y="0"/>
            <a:ext cx="2478024" cy="20939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0" y="0"/>
            <a:ext cx="1028700" cy="10287000"/>
            <a:chOff x="0" y="0"/>
            <a:chExt cx="270933" cy="466552"/>
          </a:xfrm>
          <a:solidFill>
            <a:schemeClr val="accent5"/>
          </a:solidFill>
        </p:grpSpPr>
        <p:sp>
          <p:nvSpPr>
            <p:cNvPr id="4" name="Freeform 4"/>
            <p:cNvSpPr/>
            <p:nvPr/>
          </p:nvSpPr>
          <p:spPr>
            <a:xfrm>
              <a:off x="0" y="0"/>
              <a:ext cx="270933" cy="466552"/>
            </a:xfrm>
            <a:custGeom>
              <a:avLst/>
              <a:gdLst/>
              <a:ahLst/>
              <a:cxnLst/>
              <a:rect l="l" t="t" r="r" b="b"/>
              <a:pathLst>
                <a:path w="270933" h="466552">
                  <a:moveTo>
                    <a:pt x="0" y="0"/>
                  </a:moveTo>
                  <a:lnTo>
                    <a:pt x="270933" y="0"/>
                  </a:lnTo>
                  <a:lnTo>
                    <a:pt x="270933" y="466552"/>
                  </a:lnTo>
                  <a:lnTo>
                    <a:pt x="0" y="466552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0207" y="54727"/>
              <a:ext cx="210726" cy="411825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23107" y="2850095"/>
            <a:ext cx="12408632" cy="10500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326"/>
              </a:lnSpc>
            </a:pPr>
            <a:endParaRPr dirty="0"/>
          </a:p>
          <a:p>
            <a:pPr algn="just">
              <a:lnSpc>
                <a:spcPts val="4326"/>
              </a:lnSpc>
            </a:pPr>
            <a:endParaRPr lang="en-US" sz="2884" spc="187" dirty="0">
              <a:solidFill>
                <a:srgbClr val="00000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0" y="9258300"/>
            <a:ext cx="1028700" cy="1028700"/>
            <a:chOff x="0" y="0"/>
            <a:chExt cx="270933" cy="270933"/>
          </a:xfrm>
          <a:solidFill>
            <a:schemeClr val="accent5"/>
          </a:solidFill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pFill/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270933" cy="328083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AutoShape 10"/>
          <p:cNvSpPr/>
          <p:nvPr/>
        </p:nvSpPr>
        <p:spPr>
          <a:xfrm>
            <a:off x="1723107" y="9277350"/>
            <a:ext cx="14479624" cy="0"/>
          </a:xfrm>
          <a:prstGeom prst="line">
            <a:avLst/>
          </a:prstGeom>
          <a:ln w="38100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1" name="AutoShape 11"/>
          <p:cNvSpPr/>
          <p:nvPr/>
        </p:nvSpPr>
        <p:spPr>
          <a:xfrm flipH="1">
            <a:off x="17240250" y="3024088"/>
            <a:ext cx="0" cy="5293724"/>
          </a:xfrm>
          <a:prstGeom prst="line">
            <a:avLst/>
          </a:prstGeom>
          <a:ln w="38100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6" name="AutoShape 16"/>
          <p:cNvSpPr/>
          <p:nvPr/>
        </p:nvSpPr>
        <p:spPr>
          <a:xfrm>
            <a:off x="1723107" y="2460438"/>
            <a:ext cx="903745" cy="0"/>
          </a:xfrm>
          <a:prstGeom prst="line">
            <a:avLst/>
          </a:prstGeom>
          <a:ln w="238125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Box 17"/>
          <p:cNvSpPr txBox="1"/>
          <p:nvPr/>
        </p:nvSpPr>
        <p:spPr>
          <a:xfrm>
            <a:off x="1097280" y="777240"/>
            <a:ext cx="12801600" cy="109728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r>
              <a:rPr b="1" sz="4400">
                <a:solidFill>
                  <a:srgbClr val="0F172A"/>
                </a:solidFill>
                <a:latin typeface="Lato"/>
              </a:rPr>
              <a:t>System Architecture</a:t>
            </a:r>
          </a:p>
        </p:txBody>
      </p:sp>
      <p:sp>
        <p:nvSpPr>
          <p:cNvPr id="18" name="Freeform 18"/>
          <p:cNvSpPr/>
          <p:nvPr/>
        </p:nvSpPr>
        <p:spPr>
          <a:xfrm>
            <a:off x="16778563" y="8673435"/>
            <a:ext cx="919202" cy="745910"/>
          </a:xfrm>
          <a:custGeom>
            <a:avLst/>
            <a:gdLst/>
            <a:ahLst/>
            <a:cxnLst/>
            <a:rect l="l" t="t" r="r" b="b"/>
            <a:pathLst>
              <a:path w="919202" h="745910">
                <a:moveTo>
                  <a:pt x="0" y="0"/>
                </a:moveTo>
                <a:lnTo>
                  <a:pt x="919201" y="0"/>
                </a:lnTo>
                <a:lnTo>
                  <a:pt x="919201" y="745909"/>
                </a:lnTo>
                <a:lnTo>
                  <a:pt x="0" y="74590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solidFill>
              <a:schemeClr val="accent5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/>
          <p:cNvSpPr/>
          <p:nvPr/>
        </p:nvSpPr>
        <p:spPr>
          <a:xfrm>
            <a:off x="1097280" y="2194560"/>
            <a:ext cx="8046720" cy="7132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b="1" sz="1700">
                <a:solidFill>
                  <a:srgbClr val="0F172A"/>
                </a:solidFill>
                <a:latin typeface="Lato"/>
              </a:rPr>
              <a:t>Tier 1 (Presentation Layer):</a:t>
            </a:r>
            <a:r>
              <a:rPr b="0" sz="1700">
                <a:solidFill>
                  <a:srgbClr val="334155"/>
                </a:solidFill>
                <a:latin typeface="Lato"/>
              </a:rPr>
              <a:t> Modern Light-Mode Single Page Application (HTML5 / CSS3 / Vanilla ES6+) + Native PySide6 (Qt 6) Desktop GUI. Features custom inline SVG stroke icons.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b="1" sz="1700">
                <a:solidFill>
                  <a:srgbClr val="0F172A"/>
                </a:solidFill>
                <a:latin typeface="Lato"/>
              </a:rPr>
              <a:t>Tier 2 (Application &amp; REST API Layer):</a:t>
            </a:r>
            <a:r>
              <a:rPr b="0" sz="1700">
                <a:solidFill>
                  <a:srgbClr val="334155"/>
                </a:solidFill>
                <a:latin typeface="Lato"/>
              </a:rPr>
              <a:t> Python 3.12 Multi-Threaded HTTP Server (ThreadingHTTPServer) with zero external pip dependencies routing JSON endpoints (/api/*/run).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b="1" sz="1700">
                <a:solidFill>
                  <a:srgbClr val="0F172A"/>
                </a:solidFill>
                <a:latin typeface="Lato"/>
              </a:rPr>
              <a:t>Tier 3 (Platform Execution Bridge):</a:t>
            </a:r>
            <a:r>
              <a:rPr b="0" sz="1700">
                <a:solidFill>
                  <a:srgbClr val="334155"/>
                </a:solidFill>
                <a:latin typeface="Lato"/>
              </a:rPr>
              <a:t> Automated environment runner supporting native Linux and Windows WSL 2 (wsl.exe), handling CLI argument marshaling and telemetry streaming.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b="1" sz="1700">
                <a:solidFill>
                  <a:srgbClr val="0F172A"/>
                </a:solidFill>
                <a:latin typeface="Lato"/>
              </a:rPr>
              <a:t>Tier 4 (Authoritative Simulation Core):</a:t>
            </a:r>
            <a:r>
              <a:rPr b="0" sz="1700">
                <a:solidFill>
                  <a:srgbClr val="334155"/>
                </a:solidFill>
                <a:latin typeface="Lato"/>
              </a:rPr>
              <a:t> Compiled C++20 engine executing deterministic algorithms, real POSIX system calls (fork, execve, pipe, sem_t), and /proc parser.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ECC1CFB-8B90-7A75-E4C6-1E012CF4A3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7559" y="0"/>
            <a:ext cx="2478024" cy="2093976"/>
          </a:xfrm>
          <a:prstGeom prst="rect">
            <a:avLst/>
          </a:prstGeom>
        </p:spPr>
      </p:pic>
      <p:pic>
        <p:nvPicPr>
          <p:cNvPr id="19" name="Picture 18" descr="architectur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194560"/>
            <a:ext cx="80467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0" y="0"/>
            <a:ext cx="1028700" cy="10287000"/>
            <a:chOff x="0" y="0"/>
            <a:chExt cx="270933" cy="466552"/>
          </a:xfrm>
          <a:solidFill>
            <a:schemeClr val="accent5"/>
          </a:solidFill>
        </p:grpSpPr>
        <p:sp>
          <p:nvSpPr>
            <p:cNvPr id="4" name="Freeform 4"/>
            <p:cNvSpPr/>
            <p:nvPr/>
          </p:nvSpPr>
          <p:spPr>
            <a:xfrm>
              <a:off x="0" y="0"/>
              <a:ext cx="270933" cy="466552"/>
            </a:xfrm>
            <a:custGeom>
              <a:avLst/>
              <a:gdLst/>
              <a:ahLst/>
              <a:cxnLst/>
              <a:rect l="l" t="t" r="r" b="b"/>
              <a:pathLst>
                <a:path w="270933" h="466552">
                  <a:moveTo>
                    <a:pt x="0" y="0"/>
                  </a:moveTo>
                  <a:lnTo>
                    <a:pt x="270933" y="0"/>
                  </a:lnTo>
                  <a:lnTo>
                    <a:pt x="270933" y="466552"/>
                  </a:lnTo>
                  <a:lnTo>
                    <a:pt x="0" y="466552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0207" y="54727"/>
              <a:ext cx="210726" cy="411825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23107" y="2850095"/>
            <a:ext cx="12408632" cy="10500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326"/>
              </a:lnSpc>
            </a:pPr>
            <a:endParaRPr dirty="0"/>
          </a:p>
          <a:p>
            <a:pPr algn="just">
              <a:lnSpc>
                <a:spcPts val="4326"/>
              </a:lnSpc>
            </a:pPr>
            <a:endParaRPr lang="en-US" sz="2884" spc="187" dirty="0">
              <a:solidFill>
                <a:srgbClr val="00000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0" y="9258300"/>
            <a:ext cx="1028700" cy="1028700"/>
            <a:chOff x="0" y="0"/>
            <a:chExt cx="270933" cy="270933"/>
          </a:xfrm>
          <a:solidFill>
            <a:schemeClr val="accent5"/>
          </a:solidFill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pFill/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270933" cy="328083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AutoShape 10"/>
          <p:cNvSpPr/>
          <p:nvPr/>
        </p:nvSpPr>
        <p:spPr>
          <a:xfrm>
            <a:off x="1723107" y="9277350"/>
            <a:ext cx="14479624" cy="0"/>
          </a:xfrm>
          <a:prstGeom prst="line">
            <a:avLst/>
          </a:prstGeom>
          <a:ln w="38100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1" name="AutoShape 11"/>
          <p:cNvSpPr/>
          <p:nvPr/>
        </p:nvSpPr>
        <p:spPr>
          <a:xfrm flipH="1">
            <a:off x="17240250" y="3024088"/>
            <a:ext cx="0" cy="5293724"/>
          </a:xfrm>
          <a:prstGeom prst="line">
            <a:avLst/>
          </a:prstGeom>
          <a:ln w="38100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6" name="AutoShape 16"/>
          <p:cNvSpPr/>
          <p:nvPr/>
        </p:nvSpPr>
        <p:spPr>
          <a:xfrm>
            <a:off x="1723107" y="2460438"/>
            <a:ext cx="903745" cy="0"/>
          </a:xfrm>
          <a:prstGeom prst="line">
            <a:avLst/>
          </a:prstGeom>
          <a:ln w="238125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Box 17"/>
          <p:cNvSpPr txBox="1"/>
          <p:nvPr/>
        </p:nvSpPr>
        <p:spPr>
          <a:xfrm>
            <a:off x="1097280" y="777240"/>
            <a:ext cx="12801600" cy="109728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r>
              <a:rPr b="1" sz="4400">
                <a:solidFill>
                  <a:srgbClr val="0F172A"/>
                </a:solidFill>
                <a:latin typeface="Lato"/>
              </a:rPr>
              <a:t>Tech Stack</a:t>
            </a:r>
          </a:p>
        </p:txBody>
      </p:sp>
      <p:sp>
        <p:nvSpPr>
          <p:cNvPr id="18" name="Freeform 18"/>
          <p:cNvSpPr/>
          <p:nvPr/>
        </p:nvSpPr>
        <p:spPr>
          <a:xfrm>
            <a:off x="16778563" y="8673435"/>
            <a:ext cx="919202" cy="745910"/>
          </a:xfrm>
          <a:custGeom>
            <a:avLst/>
            <a:gdLst/>
            <a:ahLst/>
            <a:cxnLst/>
            <a:rect l="l" t="t" r="r" b="b"/>
            <a:pathLst>
              <a:path w="919202" h="745910">
                <a:moveTo>
                  <a:pt x="0" y="0"/>
                </a:moveTo>
                <a:lnTo>
                  <a:pt x="919201" y="0"/>
                </a:lnTo>
                <a:lnTo>
                  <a:pt x="919201" y="745909"/>
                </a:lnTo>
                <a:lnTo>
                  <a:pt x="0" y="74590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solidFill>
              <a:schemeClr val="accent5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/>
          <p:cNvSpPr/>
          <p:nvPr/>
        </p:nvSpPr>
        <p:spPr>
          <a:xfrm>
            <a:off x="1645920" y="2194560"/>
            <a:ext cx="14996159" cy="7132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2000"/>
              </a:spcAft>
            </a:pPr>
            <a:r>
              <a:rPr b="1" sz="2000">
                <a:solidFill>
                  <a:srgbClr val="0F172A"/>
                </a:solidFill>
                <a:latin typeface="Lato"/>
              </a:rPr>
              <a:t>Core Simulation Engine:</a:t>
            </a:r>
            <a:r>
              <a:rPr b="0" sz="2000">
                <a:solidFill>
                  <a:srgbClr val="334155"/>
                </a:solidFill>
                <a:latin typeface="Lato"/>
              </a:rPr>
              <a:t> C++20 (Modern ISO C++), CMake 3.20+, GoogleTest (356 unit tests), POSIX APIs (&lt;unistd.h&gt;, &lt;semaphore.h&gt;).</a:t>
            </a:r>
          </a:p>
          <a:p>
            <a:pPr>
              <a:lnSpc>
                <a:spcPct val="122000"/>
              </a:lnSpc>
              <a:spcAft>
                <a:spcPts val="2000"/>
              </a:spcAft>
            </a:pPr>
            <a:r>
              <a:rPr b="1" sz="2000">
                <a:solidFill>
                  <a:srgbClr val="0F172A"/>
                </a:solidFill>
                <a:latin typeface="Lato"/>
              </a:rPr>
              <a:t>Backend &amp; API Server:</a:t>
            </a:r>
            <a:r>
              <a:rPr b="0" sz="2000">
                <a:solidFill>
                  <a:srgbClr val="334155"/>
                </a:solidFill>
                <a:latin typeface="Lato"/>
              </a:rPr>
              <a:t> Python 3.12 Standard Library (http.server.ThreadingHTTPServer - zero external pip dependencies), Subprocess / WSL 2 execution runner.</a:t>
            </a:r>
          </a:p>
          <a:p>
            <a:pPr>
              <a:lnSpc>
                <a:spcPct val="122000"/>
              </a:lnSpc>
              <a:spcAft>
                <a:spcPts val="2000"/>
              </a:spcAft>
            </a:pPr>
            <a:r>
              <a:rPr b="1" sz="2000">
                <a:solidFill>
                  <a:srgbClr val="0F172A"/>
                </a:solidFill>
                <a:latin typeface="Lato"/>
              </a:rPr>
              <a:t>Modern Web Frontend:</a:t>
            </a:r>
            <a:r>
              <a:rPr b="0" sz="2000">
                <a:solidFill>
                  <a:srgbClr val="334155"/>
                </a:solidFill>
                <a:latin typeface="Lato"/>
              </a:rPr>
              <a:t> Vanilla JavaScript (ES6+), HTML5, CSS3 Custom Properties (Linear/Geist Light Mode Design System), Vector SVG Engine (Lucide-standard icons).</a:t>
            </a:r>
          </a:p>
          <a:p>
            <a:pPr>
              <a:lnSpc>
                <a:spcPct val="122000"/>
              </a:lnSpc>
              <a:spcAft>
                <a:spcPts val="2000"/>
              </a:spcAft>
            </a:pPr>
            <a:r>
              <a:rPr b="1" sz="2000">
                <a:solidFill>
                  <a:srgbClr val="0F172A"/>
                </a:solidFill>
                <a:latin typeface="Lato"/>
              </a:rPr>
              <a:t>Desktop GUI &amp; Testing:</a:t>
            </a:r>
            <a:r>
              <a:rPr b="0" sz="2000">
                <a:solidFill>
                  <a:srgbClr val="334155"/>
                </a:solidFill>
                <a:latin typeface="Lato"/>
              </a:rPr>
              <a:t> PySide6 (Qt 6), Pytest 9.2 (150 automated tests), GitHub Actions CI pipeline.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340E126-75F2-002E-5C79-5F6E68A9AC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7559" y="0"/>
            <a:ext cx="2478024" cy="20939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0" y="0"/>
            <a:ext cx="1028700" cy="10287000"/>
            <a:chOff x="0" y="0"/>
            <a:chExt cx="270933" cy="466552"/>
          </a:xfrm>
          <a:solidFill>
            <a:schemeClr val="accent5"/>
          </a:solidFill>
        </p:grpSpPr>
        <p:sp>
          <p:nvSpPr>
            <p:cNvPr id="4" name="Freeform 4"/>
            <p:cNvSpPr/>
            <p:nvPr/>
          </p:nvSpPr>
          <p:spPr>
            <a:xfrm>
              <a:off x="0" y="0"/>
              <a:ext cx="270933" cy="466552"/>
            </a:xfrm>
            <a:custGeom>
              <a:avLst/>
              <a:gdLst/>
              <a:ahLst/>
              <a:cxnLst/>
              <a:rect l="l" t="t" r="r" b="b"/>
              <a:pathLst>
                <a:path w="270933" h="466552">
                  <a:moveTo>
                    <a:pt x="0" y="0"/>
                  </a:moveTo>
                  <a:lnTo>
                    <a:pt x="270933" y="0"/>
                  </a:lnTo>
                  <a:lnTo>
                    <a:pt x="270933" y="466552"/>
                  </a:lnTo>
                  <a:lnTo>
                    <a:pt x="0" y="466552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0207" y="54727"/>
              <a:ext cx="210726" cy="411825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23107" y="2850095"/>
            <a:ext cx="12408632" cy="10500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326"/>
              </a:lnSpc>
            </a:pPr>
            <a:endParaRPr dirty="0"/>
          </a:p>
          <a:p>
            <a:pPr algn="just">
              <a:lnSpc>
                <a:spcPts val="4326"/>
              </a:lnSpc>
            </a:pPr>
            <a:endParaRPr lang="en-US" sz="2884" spc="187" dirty="0">
              <a:solidFill>
                <a:srgbClr val="00000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0" y="9258300"/>
            <a:ext cx="1028700" cy="1028700"/>
            <a:chOff x="0" y="0"/>
            <a:chExt cx="270933" cy="270933"/>
          </a:xfrm>
          <a:solidFill>
            <a:schemeClr val="accent5"/>
          </a:solidFill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pFill/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270933" cy="328083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AutoShape 10"/>
          <p:cNvSpPr/>
          <p:nvPr/>
        </p:nvSpPr>
        <p:spPr>
          <a:xfrm>
            <a:off x="1723107" y="9277350"/>
            <a:ext cx="14479624" cy="0"/>
          </a:xfrm>
          <a:prstGeom prst="line">
            <a:avLst/>
          </a:prstGeom>
          <a:ln w="38100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1" name="AutoShape 11"/>
          <p:cNvSpPr/>
          <p:nvPr/>
        </p:nvSpPr>
        <p:spPr>
          <a:xfrm flipH="1">
            <a:off x="17240250" y="3024088"/>
            <a:ext cx="0" cy="5293724"/>
          </a:xfrm>
          <a:prstGeom prst="line">
            <a:avLst/>
          </a:prstGeom>
          <a:ln w="38100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6" name="AutoShape 16"/>
          <p:cNvSpPr/>
          <p:nvPr/>
        </p:nvSpPr>
        <p:spPr>
          <a:xfrm>
            <a:off x="1723107" y="2460438"/>
            <a:ext cx="903745" cy="0"/>
          </a:xfrm>
          <a:prstGeom prst="line">
            <a:avLst/>
          </a:prstGeom>
          <a:ln w="238125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Box 17"/>
          <p:cNvSpPr txBox="1"/>
          <p:nvPr/>
        </p:nvSpPr>
        <p:spPr>
          <a:xfrm>
            <a:off x="1097280" y="777240"/>
            <a:ext cx="12801600" cy="109728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r>
              <a:rPr b="1" sz="4400">
                <a:solidFill>
                  <a:srgbClr val="0F172A"/>
                </a:solidFill>
                <a:latin typeface="Lato"/>
              </a:rPr>
              <a:t>References</a:t>
            </a:r>
          </a:p>
        </p:txBody>
      </p:sp>
      <p:sp>
        <p:nvSpPr>
          <p:cNvPr id="18" name="Freeform 18"/>
          <p:cNvSpPr/>
          <p:nvPr/>
        </p:nvSpPr>
        <p:spPr>
          <a:xfrm>
            <a:off x="16778563" y="8673435"/>
            <a:ext cx="919202" cy="745910"/>
          </a:xfrm>
          <a:custGeom>
            <a:avLst/>
            <a:gdLst/>
            <a:ahLst/>
            <a:cxnLst/>
            <a:rect l="l" t="t" r="r" b="b"/>
            <a:pathLst>
              <a:path w="919202" h="745910">
                <a:moveTo>
                  <a:pt x="0" y="0"/>
                </a:moveTo>
                <a:lnTo>
                  <a:pt x="919201" y="0"/>
                </a:lnTo>
                <a:lnTo>
                  <a:pt x="919201" y="745909"/>
                </a:lnTo>
                <a:lnTo>
                  <a:pt x="0" y="74590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solidFill>
              <a:schemeClr val="accent5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/>
          <p:cNvSpPr/>
          <p:nvPr/>
        </p:nvSpPr>
        <p:spPr>
          <a:xfrm>
            <a:off x="1645920" y="2194560"/>
            <a:ext cx="14996159" cy="7132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b="0" sz="1800">
                <a:solidFill>
                  <a:srgbClr val="334155"/>
                </a:solidFill>
                <a:latin typeface="Lato"/>
              </a:rPr>
              <a:t>Silberschatz, A., Galvin, P. B., &amp; Gagne, G. (2021). Operating System Concepts (10th ed.). John Wiley &amp; Sons.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b="0" sz="1800">
                <a:solidFill>
                  <a:srgbClr val="334155"/>
                </a:solidFill>
                <a:latin typeface="Lato"/>
              </a:rPr>
              <a:t>Tanenbaum, A. S., &amp; Bos, H. (2023). Modern Operating Systems (5th ed.). Pearson Education.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b="0" sz="1800">
                <a:solidFill>
                  <a:srgbClr val="334155"/>
                </a:solidFill>
                <a:latin typeface="Lato"/>
              </a:rPr>
              <a:t>Al-Kharabsheh, K. et al. (2022). "Evaluating Interactive Visual Simulators for Operating Systems Education." IEEE Transactions on Learning Technologies, 15(3), 340-352.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b="0" sz="1800">
                <a:solidFill>
                  <a:srgbClr val="334155"/>
                </a:solidFill>
                <a:latin typeface="Lato"/>
              </a:rPr>
              <a:t>Robbins, K. A., &amp; Robbins, S. (2020). "Practical UNIX and Systems Programming Visualization." ACM Technical Symposium on Computer Science Education (SIGCSE), 52(1), 112-118.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b="0" sz="1800">
                <a:solidFill>
                  <a:srgbClr val="334155"/>
                </a:solidFill>
                <a:latin typeface="Lato"/>
              </a:rPr>
              <a:t>Love, R. (2018). Linux Kernel Development (3rd ed.). Addison-Wesley Professional.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D2DF0ED-4752-BED5-545F-3DD4ABF755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7559" y="0"/>
            <a:ext cx="2478024" cy="20939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0" y="0"/>
            <a:ext cx="1028700" cy="10287000"/>
            <a:chOff x="0" y="0"/>
            <a:chExt cx="270933" cy="466552"/>
          </a:xfrm>
          <a:solidFill>
            <a:schemeClr val="accent5"/>
          </a:solidFill>
        </p:grpSpPr>
        <p:sp>
          <p:nvSpPr>
            <p:cNvPr id="4" name="Freeform 4"/>
            <p:cNvSpPr/>
            <p:nvPr/>
          </p:nvSpPr>
          <p:spPr>
            <a:xfrm>
              <a:off x="0" y="0"/>
              <a:ext cx="270933" cy="466552"/>
            </a:xfrm>
            <a:custGeom>
              <a:avLst/>
              <a:gdLst/>
              <a:ahLst/>
              <a:cxnLst/>
              <a:rect l="l" t="t" r="r" b="b"/>
              <a:pathLst>
                <a:path w="270933" h="466552">
                  <a:moveTo>
                    <a:pt x="0" y="0"/>
                  </a:moveTo>
                  <a:lnTo>
                    <a:pt x="270933" y="0"/>
                  </a:lnTo>
                  <a:lnTo>
                    <a:pt x="270933" y="466552"/>
                  </a:lnTo>
                  <a:lnTo>
                    <a:pt x="0" y="466552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0207" y="54727"/>
              <a:ext cx="210726" cy="411825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23107" y="2850095"/>
            <a:ext cx="12408632" cy="10500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326"/>
              </a:lnSpc>
            </a:pPr>
            <a:endParaRPr dirty="0"/>
          </a:p>
          <a:p>
            <a:pPr algn="just">
              <a:lnSpc>
                <a:spcPts val="4326"/>
              </a:lnSpc>
            </a:pPr>
            <a:endParaRPr lang="en-US" sz="2884" spc="187" dirty="0">
              <a:solidFill>
                <a:srgbClr val="00000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0" y="9258300"/>
            <a:ext cx="1028700" cy="1028700"/>
            <a:chOff x="0" y="0"/>
            <a:chExt cx="270933" cy="270933"/>
          </a:xfrm>
          <a:solidFill>
            <a:schemeClr val="accent5"/>
          </a:solidFill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pFill/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270933" cy="328083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AutoShape 10"/>
          <p:cNvSpPr/>
          <p:nvPr/>
        </p:nvSpPr>
        <p:spPr>
          <a:xfrm>
            <a:off x="1723107" y="9277350"/>
            <a:ext cx="14479624" cy="0"/>
          </a:xfrm>
          <a:prstGeom prst="line">
            <a:avLst/>
          </a:prstGeom>
          <a:ln w="38100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1" name="AutoShape 11"/>
          <p:cNvSpPr/>
          <p:nvPr/>
        </p:nvSpPr>
        <p:spPr>
          <a:xfrm flipH="1">
            <a:off x="17240250" y="3024088"/>
            <a:ext cx="0" cy="5293724"/>
          </a:xfrm>
          <a:prstGeom prst="line">
            <a:avLst/>
          </a:prstGeom>
          <a:ln w="38100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6" name="AutoShape 16"/>
          <p:cNvSpPr/>
          <p:nvPr/>
        </p:nvSpPr>
        <p:spPr>
          <a:xfrm>
            <a:off x="1723107" y="2460438"/>
            <a:ext cx="903745" cy="0"/>
          </a:xfrm>
          <a:prstGeom prst="line">
            <a:avLst/>
          </a:prstGeom>
          <a:ln w="238125" cap="flat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Box 17"/>
          <p:cNvSpPr txBox="1"/>
          <p:nvPr/>
        </p:nvSpPr>
        <p:spPr>
          <a:xfrm>
            <a:off x="1097280" y="777240"/>
            <a:ext cx="12801600" cy="109728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r>
              <a:rPr b="1" sz="4400">
                <a:solidFill>
                  <a:srgbClr val="0F172A"/>
                </a:solidFill>
                <a:latin typeface="Lato"/>
              </a:rPr>
              <a:t>Conclusion</a:t>
            </a:r>
          </a:p>
        </p:txBody>
      </p:sp>
      <p:sp>
        <p:nvSpPr>
          <p:cNvPr id="18" name="Freeform 18"/>
          <p:cNvSpPr/>
          <p:nvPr/>
        </p:nvSpPr>
        <p:spPr>
          <a:xfrm>
            <a:off x="16778563" y="8673435"/>
            <a:ext cx="919202" cy="745910"/>
          </a:xfrm>
          <a:custGeom>
            <a:avLst/>
            <a:gdLst/>
            <a:ahLst/>
            <a:cxnLst/>
            <a:rect l="l" t="t" r="r" b="b"/>
            <a:pathLst>
              <a:path w="919202" h="745910">
                <a:moveTo>
                  <a:pt x="0" y="0"/>
                </a:moveTo>
                <a:lnTo>
                  <a:pt x="919201" y="0"/>
                </a:lnTo>
                <a:lnTo>
                  <a:pt x="919201" y="745909"/>
                </a:lnTo>
                <a:lnTo>
                  <a:pt x="0" y="74590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solidFill>
              <a:schemeClr val="accent5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/>
          <p:cNvSpPr/>
          <p:nvPr/>
        </p:nvSpPr>
        <p:spPr>
          <a:xfrm>
            <a:off x="1645920" y="2194560"/>
            <a:ext cx="14996159" cy="7132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2000"/>
              </a:spcAft>
            </a:pPr>
            <a:r>
              <a:rPr b="1" sz="2000">
                <a:solidFill>
                  <a:srgbClr val="0F172A"/>
                </a:solidFill>
                <a:latin typeface="Lato"/>
              </a:rPr>
              <a:t>Comprehensive Integration:</a:t>
            </a:r>
            <a:r>
              <a:rPr b="0" sz="2000">
                <a:solidFill>
                  <a:srgbClr val="334155"/>
                </a:solidFill>
                <a:latin typeface="Lato"/>
              </a:rPr>
              <a:t> Successfully unified 10 core Operating Systems domains into a single production-quality laboratory platform.</a:t>
            </a:r>
          </a:p>
          <a:p>
            <a:pPr>
              <a:lnSpc>
                <a:spcPct val="122000"/>
              </a:lnSpc>
              <a:spcAft>
                <a:spcPts val="2000"/>
              </a:spcAft>
            </a:pPr>
            <a:r>
              <a:rPr b="1" sz="2000">
                <a:solidFill>
                  <a:srgbClr val="0F172A"/>
                </a:solidFill>
                <a:latin typeface="Lato"/>
              </a:rPr>
              <a:t>Pedagogical Impact:</a:t>
            </a:r>
            <a:r>
              <a:rPr b="0" sz="2000">
                <a:solidFill>
                  <a:srgbClr val="334155"/>
                </a:solidFill>
                <a:latin typeface="Lato"/>
              </a:rPr>
              <a:t> Bridges abstract theoretical textbook models with concrete visual execution, enabling intuitive experimentation for CS students.</a:t>
            </a:r>
          </a:p>
          <a:p>
            <a:pPr>
              <a:lnSpc>
                <a:spcPct val="122000"/>
              </a:lnSpc>
              <a:spcAft>
                <a:spcPts val="2000"/>
              </a:spcAft>
            </a:pPr>
            <a:r>
              <a:rPr b="1" sz="2000">
                <a:solidFill>
                  <a:srgbClr val="0F172A"/>
                </a:solidFill>
                <a:latin typeface="Lato"/>
              </a:rPr>
              <a:t>Engineering Rigor:</a:t>
            </a:r>
            <a:r>
              <a:rPr b="0" sz="2000">
                <a:solidFill>
                  <a:srgbClr val="334155"/>
                </a:solidFill>
                <a:latin typeface="Lato"/>
              </a:rPr>
              <a:t> Combines high-performance C++20 simulation accuracy with real POSIX kernel integration and 150 automated verification tests.</a:t>
            </a:r>
          </a:p>
          <a:p>
            <a:pPr>
              <a:lnSpc>
                <a:spcPct val="122000"/>
              </a:lnSpc>
              <a:spcAft>
                <a:spcPts val="2000"/>
              </a:spcAft>
            </a:pPr>
            <a:r>
              <a:rPr b="1" sz="2000">
                <a:solidFill>
                  <a:srgbClr val="0F172A"/>
                </a:solidFill>
                <a:latin typeface="Lato"/>
              </a:rPr>
              <a:t>Accessible Deployment:</a:t>
            </a:r>
            <a:r>
              <a:rPr b="0" sz="2000">
                <a:solidFill>
                  <a:srgbClr val="334155"/>
                </a:solidFill>
                <a:latin typeface="Lato"/>
              </a:rPr>
              <a:t> Zero external pip dependencies, instant browser launch, and modern light-theme devtool ergonomics.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9A95A48-FED7-90FE-2396-589EEA344C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7559" y="0"/>
            <a:ext cx="2478024" cy="20939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959</Words>
  <Application>Microsoft Office PowerPoint</Application>
  <PresentationFormat>Custom</PresentationFormat>
  <Paragraphs>59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Lato</vt:lpstr>
      <vt:lpstr>Arial</vt:lpstr>
      <vt:lpstr>Open Sans</vt:lpstr>
      <vt:lpstr>Times New Roman</vt:lpstr>
      <vt:lpstr>Calibri</vt:lpstr>
      <vt:lpstr>Open Sans Extra Bold</vt:lpstr>
      <vt:lpstr>Open Sauce</vt:lpstr>
      <vt:lpstr>Lato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PROBLEM STATEMENT</dc:title>
  <dc:creator>Admin</dc:creator>
  <cp:lastModifiedBy>Manthan Sali</cp:lastModifiedBy>
  <cp:revision>34</cp:revision>
  <dcterms:created xsi:type="dcterms:W3CDTF">2006-08-16T00:00:00Z</dcterms:created>
  <dcterms:modified xsi:type="dcterms:W3CDTF">2026-10-30T05:41:07Z</dcterms:modified>
  <dc:identifier>DAGOaE9SXNE</dc:identifier>
</cp:coreProperties>
</file>